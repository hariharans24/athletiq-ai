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0"/>
  </p:notesMasterIdLst>
  <p:sldIdLst>
    <p:sldId id="256" r:id="rId5"/>
    <p:sldId id="2146847054" r:id="rId6"/>
    <p:sldId id="262" r:id="rId7"/>
    <p:sldId id="263" r:id="rId8"/>
    <p:sldId id="265" r:id="rId9"/>
    <p:sldId id="266" r:id="rId10"/>
    <p:sldId id="2146847059" r:id="rId11"/>
    <p:sldId id="267" r:id="rId12"/>
    <p:sldId id="2146847061" r:id="rId13"/>
    <p:sldId id="2146847060" r:id="rId14"/>
    <p:sldId id="268" r:id="rId15"/>
    <p:sldId id="2146847055" r:id="rId16"/>
    <p:sldId id="269" r:id="rId17"/>
    <p:sldId id="2146847058"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12-06-2026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6/12/2026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6/12/2026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6/12/2026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6/12/2026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6/12/2026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6/12/2026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6/12/2026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6/12/2026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6/12/2026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6/12/2026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6/12/2026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6/12/2026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plotly.com/python/" TargetMode="External"/><Relationship Id="rId3" Type="http://schemas.openxmlformats.org/officeDocument/2006/relationships/hyperlink" Target="https://docs.python.org/" TargetMode="External"/><Relationship Id="rId7" Type="http://schemas.openxmlformats.org/officeDocument/2006/relationships/hyperlink" Target="https://docs.docker.com/" TargetMode="External"/><Relationship Id="rId2" Type="http://schemas.openxmlformats.org/officeDocument/2006/relationships/hyperlink" Target="https://ai.google.dev/" TargetMode="External"/><Relationship Id="rId1" Type="http://schemas.openxmlformats.org/officeDocument/2006/relationships/slideLayout" Target="../slideLayouts/slideLayout2.xml"/><Relationship Id="rId6" Type="http://schemas.openxmlformats.org/officeDocument/2006/relationships/hyperlink" Target="https://scikit-learn.org/stable/supervised_learning.html" TargetMode="External"/><Relationship Id="rId11" Type="http://schemas.openxmlformats.org/officeDocument/2006/relationships/hyperlink" Target="https://pypi.org/project/bcrypt/" TargetMode="External"/><Relationship Id="rId5" Type="http://schemas.openxmlformats.org/officeDocument/2006/relationships/hyperlink" Target="https://docs.streamlit.io/" TargetMode="External"/><Relationship Id="rId10" Type="http://schemas.openxmlformats.org/officeDocument/2006/relationships/hyperlink" Target="https://docs.reportlab.com/" TargetMode="External"/><Relationship Id="rId4" Type="http://schemas.openxmlformats.org/officeDocument/2006/relationships/hyperlink" Target="https://docs.sqlalchemy.org/" TargetMode="External"/><Relationship Id="rId9" Type="http://schemas.openxmlformats.org/officeDocument/2006/relationships/hyperlink" Target="https://pandas.pydata.org/doc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athletiq-ai.streamlit.app/" TargetMode="External"/><Relationship Id="rId2" Type="http://schemas.openxmlformats.org/officeDocument/2006/relationships/hyperlink" Target="https://github.com/HARIHARANS24/AthletiQ-AI" TargetMode="External"/><Relationship Id="rId1" Type="http://schemas.openxmlformats.org/officeDocument/2006/relationships/slideLayout" Target="../slideLayouts/slideLayout2.xml"/><Relationship Id="rId4" Type="http://schemas.openxmlformats.org/officeDocument/2006/relationships/hyperlink" Target="https://www.linkedin.com/in/hariharan-s24/"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219156" y="1861064"/>
            <a:ext cx="11972844" cy="977778"/>
          </a:xfrm>
        </p:spPr>
        <p:txBody>
          <a:bodyPr>
            <a:normAutofit fontScale="90000"/>
          </a:bodyPr>
          <a:lstStyle/>
          <a:p>
            <a:pPr algn="ctr"/>
            <a:r>
              <a:rPr lang="en-US" b="1" dirty="0">
                <a:solidFill>
                  <a:schemeClr val="accent1"/>
                </a:solidFill>
                <a:latin typeface="Arial" panose="020B0604020202020204" pitchFamily="34" charset="0"/>
                <a:cs typeface="Arial" panose="020B0604020202020204" pitchFamily="34" charset="0"/>
              </a:rPr>
              <a:t>AI-Powered Personalized Workout </a:t>
            </a:r>
            <a:br>
              <a:rPr lang="en-US" b="1" dirty="0">
                <a:solidFill>
                  <a:schemeClr val="accent1"/>
                </a:solidFill>
                <a:latin typeface="Arial" panose="020B0604020202020204" pitchFamily="34" charset="0"/>
                <a:cs typeface="Arial" panose="020B0604020202020204" pitchFamily="34" charset="0"/>
              </a:rPr>
            </a:br>
            <a:r>
              <a:rPr lang="en-US" b="1" dirty="0">
                <a:solidFill>
                  <a:schemeClr val="accent1"/>
                </a:solidFill>
                <a:latin typeface="Arial" panose="020B0604020202020204" pitchFamily="34" charset="0"/>
                <a:cs typeface="Arial" panose="020B0604020202020204" pitchFamily="34" charset="0"/>
              </a:rPr>
              <a:t>&amp; Diet Planner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1912892" y="3583100"/>
            <a:ext cx="9178780" cy="2343655"/>
          </a:xfrm>
          <a:prstGeom prst="rect">
            <a:avLst/>
          </a:prstGeom>
          <a:noFill/>
        </p:spPr>
        <p:txBody>
          <a:bodyPr wrap="square" lIns="91440" tIns="45720" rIns="91440" bIns="45720" rtlCol="0" anchor="t">
            <a:spAutoFit/>
          </a:bodyPr>
          <a:lstStyle/>
          <a:p>
            <a:pPr>
              <a:lnSpc>
                <a:spcPct val="150000"/>
              </a:lnSpc>
            </a:pPr>
            <a:r>
              <a:rPr lang="en-US" sz="2000" b="1" dirty="0">
                <a:solidFill>
                  <a:schemeClr val="accent1">
                    <a:lumMod val="75000"/>
                  </a:schemeClr>
                </a:solidFill>
                <a:latin typeface="Arial" panose="020B0604020202020204" pitchFamily="34" charset="0"/>
                <a:cs typeface="Arial" pitchFamily="34" charset="0"/>
              </a:rPr>
              <a:t>Presented By:</a:t>
            </a:r>
          </a:p>
          <a:p>
            <a:pPr marL="457200" indent="-457200">
              <a:lnSpc>
                <a:spcPct val="150000"/>
              </a:lnSpc>
              <a:buAutoNum type="arabicPeriod"/>
            </a:pPr>
            <a:r>
              <a:rPr lang="en-US" sz="2000" b="1" dirty="0">
                <a:solidFill>
                  <a:schemeClr val="accent1">
                    <a:lumMod val="75000"/>
                  </a:schemeClr>
                </a:solidFill>
                <a:latin typeface="Arial" panose="020B0604020202020204" pitchFamily="34" charset="0"/>
                <a:cs typeface="Arial" pitchFamily="34" charset="0"/>
              </a:rPr>
              <a:t>Student Name-  HARIHARAN S</a:t>
            </a:r>
          </a:p>
          <a:p>
            <a:pPr marL="457200" indent="-457200">
              <a:lnSpc>
                <a:spcPct val="150000"/>
              </a:lnSpc>
              <a:buAutoNum type="arabicPeriod"/>
            </a:pPr>
            <a:r>
              <a:rPr lang="en-US" sz="2000" b="1" dirty="0">
                <a:solidFill>
                  <a:schemeClr val="accent1">
                    <a:lumMod val="75000"/>
                  </a:schemeClr>
                </a:solidFill>
                <a:latin typeface="Arial" panose="020B0604020202020204" pitchFamily="34" charset="0"/>
                <a:cs typeface="Arial" pitchFamily="34" charset="0"/>
              </a:rPr>
              <a:t>College Name-  SRI KRISHNA COLLEGE OF TECHNOLOGY</a:t>
            </a:r>
          </a:p>
          <a:p>
            <a:pPr marL="457200" indent="-457200">
              <a:lnSpc>
                <a:spcPct val="150000"/>
              </a:lnSpc>
              <a:buAutoNum type="arabicPeriod"/>
            </a:pPr>
            <a:r>
              <a:rPr lang="en-US" sz="2000" b="1" dirty="0">
                <a:solidFill>
                  <a:schemeClr val="accent1">
                    <a:lumMod val="75000"/>
                  </a:schemeClr>
                </a:solidFill>
                <a:latin typeface="Arial" panose="020B0604020202020204" pitchFamily="34" charset="0"/>
                <a:cs typeface="Arial" pitchFamily="34" charset="0"/>
              </a:rPr>
              <a:t>Department- ARTIFICIAL INTELLIGENCE AND DATA SCIENCE (AI&amp;DS)</a:t>
            </a:r>
          </a:p>
          <a:p>
            <a:pPr marL="457200" indent="-457200">
              <a:lnSpc>
                <a:spcPct val="150000"/>
              </a:lnSpc>
              <a:buFontTx/>
              <a:buAutoNum type="arabicPeriod"/>
            </a:pPr>
            <a:r>
              <a:rPr lang="en-US" sz="2000" b="1" dirty="0">
                <a:solidFill>
                  <a:schemeClr val="accent1">
                    <a:lumMod val="75000"/>
                  </a:schemeClr>
                </a:solidFill>
                <a:latin typeface="Arial" panose="020B0604020202020204" pitchFamily="34" charset="0"/>
                <a:cs typeface="Arial" pitchFamily="34" charset="0"/>
              </a:rPr>
              <a:t>AICTE Student ID- </a:t>
            </a:r>
            <a:r>
              <a:rPr lang="en-IN" sz="2000" b="1" dirty="0">
                <a:solidFill>
                  <a:schemeClr val="accent1">
                    <a:lumMod val="75000"/>
                  </a:schemeClr>
                </a:solidFill>
                <a:latin typeface="Arial" panose="020B0604020202020204" pitchFamily="34" charset="0"/>
                <a:cs typeface="Arial" panose="020B0604020202020204" pitchFamily="34" charset="0"/>
              </a:rPr>
              <a:t>STU67d85e3af328e1742233146</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9"/>
            <a:ext cx="10515600" cy="1158572"/>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1223780" y="1938210"/>
            <a:ext cx="6306812" cy="4361321"/>
          </a:xfrm>
        </p:spPr>
        <p:txBody>
          <a:bodyPr vert="horz" lIns="91440" tIns="45720" rIns="91440" bIns="45720" rtlCol="0" anchor="t">
            <a:noAutofit/>
          </a:bodyPr>
          <a:lstStyle/>
          <a:p>
            <a:r>
              <a:rPr lang="en-US" sz="1800" b="1" dirty="0">
                <a:latin typeface="Arial"/>
                <a:ea typeface="+mn-lt"/>
                <a:cs typeface="Arial"/>
              </a:rPr>
              <a:t>Problem Statement</a:t>
            </a:r>
            <a:endParaRPr lang="en-US" sz="1800" dirty="0">
              <a:latin typeface="Arial"/>
              <a:cs typeface="Arial"/>
            </a:endParaRPr>
          </a:p>
          <a:p>
            <a:r>
              <a:rPr lang="en-US" sz="1800" b="1" dirty="0">
                <a:latin typeface="Arial"/>
                <a:ea typeface="+mn-lt"/>
                <a:cs typeface="Arial"/>
              </a:rPr>
              <a:t>Proposed System/Solution</a:t>
            </a:r>
            <a:endParaRPr lang="en-US" sz="1800" dirty="0">
              <a:latin typeface="Arial"/>
              <a:cs typeface="Arial"/>
            </a:endParaRPr>
          </a:p>
          <a:p>
            <a:r>
              <a:rPr lang="en-US" sz="1800" b="1" dirty="0">
                <a:latin typeface="Arial"/>
                <a:ea typeface="+mn-lt"/>
                <a:cs typeface="Calibri"/>
              </a:rPr>
              <a:t>System </a:t>
            </a:r>
            <a:r>
              <a:rPr lang="en-US" sz="1800" b="1" dirty="0">
                <a:latin typeface="Arial"/>
                <a:ea typeface="+mn-lt"/>
                <a:cs typeface="+mn-lt"/>
              </a:rPr>
              <a:t>Development Approach </a:t>
            </a:r>
            <a:r>
              <a:rPr lang="en-US" sz="1800" dirty="0">
                <a:latin typeface="Arial"/>
                <a:ea typeface="+mn-lt"/>
                <a:cs typeface="+mn-lt"/>
              </a:rPr>
              <a:t>(Technology Used) </a:t>
            </a:r>
          </a:p>
          <a:p>
            <a:r>
              <a:rPr lang="en-US" sz="1800" b="1" dirty="0">
                <a:latin typeface="Arial"/>
                <a:ea typeface="+mn-lt"/>
                <a:cs typeface="+mn-lt"/>
              </a:rPr>
              <a:t>Algorithm</a:t>
            </a:r>
          </a:p>
          <a:p>
            <a:r>
              <a:rPr lang="en-US" sz="1800" b="1" dirty="0">
                <a:latin typeface="Arial"/>
                <a:ea typeface="+mn-lt"/>
                <a:cs typeface="+mn-lt"/>
              </a:rPr>
              <a:t>Deployment  &amp; </a:t>
            </a:r>
            <a:r>
              <a:rPr lang="en-US" sz="1800" b="1" dirty="0">
                <a:latin typeface="Arial"/>
                <a:ea typeface="+mj-lt"/>
                <a:cs typeface="Arial"/>
              </a:rPr>
              <a:t>Requirements Installation</a:t>
            </a:r>
            <a:endParaRPr lang="en-US" sz="1800" b="1" dirty="0">
              <a:latin typeface="Arial"/>
              <a:ea typeface="+mn-lt"/>
              <a:cs typeface="+mn-lt"/>
            </a:endParaRPr>
          </a:p>
          <a:p>
            <a:r>
              <a:rPr lang="en-US" sz="1800" b="1" dirty="0">
                <a:latin typeface="Arial"/>
                <a:ea typeface="+mn-lt"/>
                <a:cs typeface="Arial"/>
              </a:rPr>
              <a:t>Result</a:t>
            </a:r>
          </a:p>
          <a:p>
            <a:r>
              <a:rPr lang="en-US" sz="1800" b="1" dirty="0">
                <a:latin typeface="Arial"/>
                <a:ea typeface="+mn-lt"/>
                <a:cs typeface="Arial"/>
              </a:rPr>
              <a:t>Project Screenshot</a:t>
            </a:r>
          </a:p>
          <a:p>
            <a:r>
              <a:rPr lang="en-US" sz="1800" b="1" dirty="0">
                <a:latin typeface="Arial"/>
                <a:ea typeface="+mn-lt"/>
                <a:cs typeface="Arial"/>
              </a:rPr>
              <a:t>Conclusion</a:t>
            </a:r>
            <a:endParaRPr lang="en-US" sz="1800" dirty="0">
              <a:latin typeface="Arial"/>
              <a:cs typeface="Arial"/>
            </a:endParaRPr>
          </a:p>
          <a:p>
            <a:r>
              <a:rPr lang="en-US" sz="1800" b="1" dirty="0">
                <a:latin typeface="Arial"/>
                <a:ea typeface="+mn-lt"/>
                <a:cs typeface="Arial"/>
              </a:rPr>
              <a:t>Future Scope</a:t>
            </a:r>
          </a:p>
          <a:p>
            <a:r>
              <a:rPr lang="en-US" sz="1800" b="1" dirty="0">
                <a:latin typeface="Arial"/>
                <a:ea typeface="+mn-lt"/>
                <a:cs typeface="Arial"/>
              </a:rPr>
              <a:t>References</a:t>
            </a:r>
            <a:endParaRPr lang="en-US" sz="1800"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10" name="Content Placeholder 5">
            <a:extLst>
              <a:ext uri="{FF2B5EF4-FFF2-40B4-BE49-F238E27FC236}">
                <a16:creationId xmlns:a16="http://schemas.microsoft.com/office/drawing/2014/main" id="{5354A84D-D834-A24B-8E6F-C556CA75437F}"/>
              </a:ext>
            </a:extLst>
          </p:cNvPr>
          <p:cNvSpPr txBox="1">
            <a:spLocks/>
          </p:cNvSpPr>
          <p:nvPr/>
        </p:nvSpPr>
        <p:spPr>
          <a:xfrm>
            <a:off x="738713" y="2716960"/>
            <a:ext cx="11029615" cy="4673324"/>
          </a:xfrm>
          <a:prstGeom prst="rect">
            <a:avLst/>
          </a:prstGeom>
        </p:spPr>
        <p:txBody>
          <a:bodyPr vert="horz" lIns="91440" tIns="45720" rIns="91440" bIns="45720" rtlCol="0" anchor="ctr">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endParaRPr lang="en-IN" sz="1800" dirty="0"/>
          </a:p>
        </p:txBody>
      </p:sp>
      <p:sp>
        <p:nvSpPr>
          <p:cNvPr id="12" name="Content Placeholder 11">
            <a:extLst>
              <a:ext uri="{FF2B5EF4-FFF2-40B4-BE49-F238E27FC236}">
                <a16:creationId xmlns:a16="http://schemas.microsoft.com/office/drawing/2014/main" id="{7F24E7C5-96E3-8318-B85B-2A8F992F30DA}"/>
              </a:ext>
            </a:extLst>
          </p:cNvPr>
          <p:cNvSpPr>
            <a:spLocks noGrp="1"/>
          </p:cNvSpPr>
          <p:nvPr>
            <p:ph idx="1"/>
          </p:nvPr>
        </p:nvSpPr>
        <p:spPr>
          <a:xfrm>
            <a:off x="581192" y="1402610"/>
            <a:ext cx="11278576" cy="5171926"/>
          </a:xfrm>
        </p:spPr>
        <p:txBody>
          <a:bodyPr>
            <a:noAutofit/>
          </a:bodyPr>
          <a:lstStyle/>
          <a:p>
            <a:pPr marL="0" indent="0">
              <a:buNone/>
            </a:pPr>
            <a:r>
              <a:rPr lang="en-IN" sz="1800" b="1" dirty="0"/>
              <a:t>Problem Statement </a:t>
            </a:r>
          </a:p>
          <a:p>
            <a:r>
              <a:rPr lang="en-US" sz="1800" dirty="0"/>
              <a:t>Maintaining a healthy lifestyle requires proper workout planning and balanced nutrition. Many individuals struggle to create fitness routines and diet plans that align with their goals, body conditions, and daily schedules. Existing fitness resources often provide generic recommendations that fail to address individual needs.</a:t>
            </a:r>
            <a:br>
              <a:rPr lang="en-US" sz="1800" dirty="0"/>
            </a:br>
            <a:endParaRPr lang="en-IN" sz="1800" dirty="0"/>
          </a:p>
          <a:p>
            <a:pPr marL="0" indent="0">
              <a:buNone/>
            </a:pPr>
            <a:r>
              <a:rPr lang="en-IN" sz="1800" b="1" dirty="0"/>
              <a:t>Problems Identified:</a:t>
            </a:r>
          </a:p>
          <a:p>
            <a:pPr marL="285750" indent="-285750">
              <a:buFont typeface="Arial" panose="020B0604020202020204" pitchFamily="34" charset="0"/>
              <a:buChar char="•"/>
            </a:pPr>
            <a:r>
              <a:rPr lang="en-US" sz="1800" dirty="0"/>
              <a:t>Lack of personalized workout and diet recommendations. </a:t>
            </a:r>
          </a:p>
          <a:p>
            <a:pPr marL="285750" indent="-285750">
              <a:buFont typeface="Arial" panose="020B0604020202020204" pitchFamily="34" charset="0"/>
              <a:buChar char="•"/>
            </a:pPr>
            <a:r>
              <a:rPr lang="en-US" sz="1800" dirty="0"/>
              <a:t>Difficulty tracking fitness progress consistently. </a:t>
            </a:r>
          </a:p>
          <a:p>
            <a:pPr marL="285750" indent="-285750">
              <a:buFont typeface="Arial" panose="020B0604020202020204" pitchFamily="34" charset="0"/>
              <a:buChar char="•"/>
            </a:pPr>
            <a:r>
              <a:rPr lang="en-US" sz="1800" dirty="0"/>
              <a:t>Limited access to professional fitness guidance. </a:t>
            </a:r>
          </a:p>
          <a:p>
            <a:pPr marL="285750" indent="-285750">
              <a:buFont typeface="Arial" panose="020B0604020202020204" pitchFamily="34" charset="0"/>
              <a:buChar char="•"/>
            </a:pPr>
            <a:r>
              <a:rPr lang="en-US" sz="1800" dirty="0"/>
              <a:t>Time-consuming process of planning meals and workouts. </a:t>
            </a:r>
          </a:p>
          <a:p>
            <a:pPr marL="285750" indent="-285750">
              <a:buFont typeface="Arial" panose="020B0604020202020204" pitchFamily="34" charset="0"/>
              <a:buChar char="•"/>
            </a:pPr>
            <a:r>
              <a:rPr lang="en-US" sz="1800" dirty="0"/>
              <a:t>Poor motivation and adherence to fitness routines. </a:t>
            </a:r>
          </a:p>
          <a:p>
            <a:pPr marL="285750" indent="-285750">
              <a:buFont typeface="Arial" panose="020B0604020202020204" pitchFamily="34" charset="0"/>
              <a:buChar char="•"/>
            </a:pPr>
            <a:r>
              <a:rPr lang="en-US" sz="1800" dirty="0"/>
              <a:t>Lack of centralized fitness management tools.</a:t>
            </a:r>
            <a:endParaRPr lang="en-IN" sz="18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4" name="Content Placeholder 5">
            <a:extLst>
              <a:ext uri="{FF2B5EF4-FFF2-40B4-BE49-F238E27FC236}">
                <a16:creationId xmlns:a16="http://schemas.microsoft.com/office/drawing/2014/main" id="{B1526D68-5F0B-0498-A331-A63D26C37B97}"/>
              </a:ext>
            </a:extLst>
          </p:cNvPr>
          <p:cNvSpPr txBox="1">
            <a:spLocks/>
          </p:cNvSpPr>
          <p:nvPr/>
        </p:nvSpPr>
        <p:spPr>
          <a:xfrm>
            <a:off x="581192" y="1317928"/>
            <a:ext cx="11029615" cy="5137736"/>
          </a:xfrm>
          <a:prstGeom prst="rect">
            <a:avLst/>
          </a:prstGeom>
        </p:spPr>
        <p:txBody>
          <a:bodyPr vert="horz" lIns="91440" tIns="45720" rIns="91440" bIns="45720" rtlCol="0" anchor="ctr">
            <a:no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IN" b="1" dirty="0"/>
              <a:t>AI-Powered Personalized Workout &amp; Diet Planner</a:t>
            </a:r>
          </a:p>
          <a:p>
            <a:r>
              <a:rPr lang="en-IN" dirty="0"/>
              <a:t>The proposed system is an intelligent fitness application that uses Artificial Intelligence to generate customized workout routines and diet plans based on user-specific fitness goals, body metrics, and lifestyle preferences.</a:t>
            </a:r>
          </a:p>
          <a:p>
            <a:pPr marL="0" indent="0">
              <a:buNone/>
            </a:pPr>
            <a:r>
              <a:rPr lang="en-IN" b="1" dirty="0"/>
              <a:t>Key Features</a:t>
            </a:r>
          </a:p>
          <a:p>
            <a:r>
              <a:rPr lang="en-IN" dirty="0"/>
              <a:t>User Authentication &amp; Profile Management </a:t>
            </a:r>
          </a:p>
          <a:p>
            <a:r>
              <a:rPr lang="en-IN" dirty="0"/>
              <a:t>AI Workout Plan Generator &amp; AI Diet Plan Generator.</a:t>
            </a:r>
          </a:p>
          <a:p>
            <a:r>
              <a:rPr lang="en-IN" dirty="0"/>
              <a:t>AI Fitness Chatbot Coach &amp; Progress Tracking.</a:t>
            </a:r>
          </a:p>
          <a:p>
            <a:r>
              <a:rPr lang="en-IN" dirty="0"/>
              <a:t>Analytics Dashboard &amp; PDF Report Generation. </a:t>
            </a:r>
          </a:p>
          <a:p>
            <a:r>
              <a:rPr lang="en-IN" dirty="0"/>
              <a:t>Detailed Fitness Assessment </a:t>
            </a:r>
          </a:p>
          <a:p>
            <a:pPr marL="0" indent="0">
              <a:buNone/>
            </a:pPr>
            <a:r>
              <a:rPr lang="en-IN" b="1" dirty="0"/>
              <a:t>Benefits</a:t>
            </a:r>
          </a:p>
          <a:p>
            <a:r>
              <a:rPr lang="en-IN" dirty="0"/>
              <a:t>Personalized fitness recommendations &amp; Improved workout efficiency </a:t>
            </a:r>
          </a:p>
          <a:p>
            <a:r>
              <a:rPr lang="en-IN" dirty="0"/>
              <a:t>Better nutrition planning &amp; Progress monitoring and motivation </a:t>
            </a:r>
          </a:p>
          <a:p>
            <a:r>
              <a:rPr lang="en-IN" dirty="0"/>
              <a:t>Easy access to fitness guidance</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graphicFrame>
        <p:nvGraphicFramePr>
          <p:cNvPr id="4" name="Table 3">
            <a:extLst>
              <a:ext uri="{FF2B5EF4-FFF2-40B4-BE49-F238E27FC236}">
                <a16:creationId xmlns:a16="http://schemas.microsoft.com/office/drawing/2014/main" id="{54BAD0E6-B6F8-1DB8-EE97-DF2C983B20C0}"/>
              </a:ext>
            </a:extLst>
          </p:cNvPr>
          <p:cNvGraphicFramePr>
            <a:graphicFrameLocks noGrp="1"/>
          </p:cNvGraphicFramePr>
          <p:nvPr>
            <p:extLst>
              <p:ext uri="{D42A27DB-BD31-4B8C-83A1-F6EECF244321}">
                <p14:modId xmlns:p14="http://schemas.microsoft.com/office/powerpoint/2010/main" val="3303606949"/>
              </p:ext>
            </p:extLst>
          </p:nvPr>
        </p:nvGraphicFramePr>
        <p:xfrm>
          <a:off x="502432" y="1396968"/>
          <a:ext cx="11187136" cy="5151120"/>
        </p:xfrm>
        <a:graphic>
          <a:graphicData uri="http://schemas.openxmlformats.org/drawingml/2006/table">
            <a:tbl>
              <a:tblPr/>
              <a:tblGrid>
                <a:gridCol w="6139908">
                  <a:extLst>
                    <a:ext uri="{9D8B030D-6E8A-4147-A177-3AD203B41FA5}">
                      <a16:colId xmlns:a16="http://schemas.microsoft.com/office/drawing/2014/main" val="3724416637"/>
                    </a:ext>
                  </a:extLst>
                </a:gridCol>
                <a:gridCol w="5047228">
                  <a:extLst>
                    <a:ext uri="{9D8B030D-6E8A-4147-A177-3AD203B41FA5}">
                      <a16:colId xmlns:a16="http://schemas.microsoft.com/office/drawing/2014/main" val="2927187929"/>
                    </a:ext>
                  </a:extLst>
                </a:gridCol>
              </a:tblGrid>
              <a:tr h="371623">
                <a:tc>
                  <a:txBody>
                    <a:bodyPr/>
                    <a:lstStyle/>
                    <a:p>
                      <a:pPr>
                        <a:buNone/>
                      </a:pPr>
                      <a:r>
                        <a:rPr lang="en-IN" sz="2000" b="1" dirty="0">
                          <a:solidFill>
                            <a:schemeClr val="accent1"/>
                          </a:solidFill>
                        </a:rPr>
                        <a:t>Category</a:t>
                      </a:r>
                      <a:endParaRPr lang="en-IN" sz="2000" dirty="0">
                        <a:solidFill>
                          <a:schemeClr val="accent1"/>
                        </a:solidFill>
                      </a:endParaRPr>
                    </a:p>
                  </a:txBody>
                  <a:tcPr anchor="ctr">
                    <a:lnL>
                      <a:noFill/>
                    </a:lnL>
                    <a:lnR>
                      <a:noFill/>
                    </a:lnR>
                    <a:lnT>
                      <a:noFill/>
                    </a:lnT>
                    <a:lnB>
                      <a:noFill/>
                    </a:lnB>
                    <a:noFill/>
                  </a:tcPr>
                </a:tc>
                <a:tc>
                  <a:txBody>
                    <a:bodyPr/>
                    <a:lstStyle/>
                    <a:p>
                      <a:pPr>
                        <a:buNone/>
                      </a:pPr>
                      <a:r>
                        <a:rPr lang="en-IN" sz="2000" b="1" dirty="0">
                          <a:solidFill>
                            <a:schemeClr val="accent1"/>
                          </a:solidFill>
                        </a:rPr>
                        <a:t>Technology</a:t>
                      </a:r>
                      <a:endParaRPr lang="en-IN" sz="2000" dirty="0">
                        <a:solidFill>
                          <a:schemeClr val="accent1"/>
                        </a:solidFill>
                      </a:endParaRPr>
                    </a:p>
                  </a:txBody>
                  <a:tcPr anchor="ctr">
                    <a:lnL>
                      <a:noFill/>
                    </a:lnL>
                    <a:lnR>
                      <a:noFill/>
                    </a:lnR>
                    <a:lnT>
                      <a:noFill/>
                    </a:lnT>
                    <a:lnB>
                      <a:noFill/>
                    </a:lnB>
                    <a:noFill/>
                  </a:tcPr>
                </a:tc>
                <a:extLst>
                  <a:ext uri="{0D108BD9-81ED-4DB2-BD59-A6C34878D82A}">
                    <a16:rowId xmlns:a16="http://schemas.microsoft.com/office/drawing/2014/main" val="2646708284"/>
                  </a:ext>
                </a:extLst>
              </a:tr>
              <a:tr h="371623">
                <a:tc>
                  <a:txBody>
                    <a:bodyPr/>
                    <a:lstStyle/>
                    <a:p>
                      <a:pPr>
                        <a:buNone/>
                      </a:pPr>
                      <a:r>
                        <a:rPr lang="en-IN" sz="2000"/>
                        <a:t>Frontend</a:t>
                      </a:r>
                    </a:p>
                  </a:txBody>
                  <a:tcPr anchor="ctr">
                    <a:lnL>
                      <a:noFill/>
                    </a:lnL>
                    <a:lnR>
                      <a:noFill/>
                    </a:lnR>
                    <a:lnT>
                      <a:noFill/>
                    </a:lnT>
                    <a:lnB>
                      <a:noFill/>
                    </a:lnB>
                    <a:noFill/>
                  </a:tcPr>
                </a:tc>
                <a:tc>
                  <a:txBody>
                    <a:bodyPr/>
                    <a:lstStyle/>
                    <a:p>
                      <a:pPr>
                        <a:buNone/>
                      </a:pPr>
                      <a:r>
                        <a:rPr lang="en-IN" sz="2000"/>
                        <a:t>Streamlit</a:t>
                      </a:r>
                    </a:p>
                  </a:txBody>
                  <a:tcPr anchor="ctr">
                    <a:lnL>
                      <a:noFill/>
                    </a:lnL>
                    <a:lnR>
                      <a:noFill/>
                    </a:lnR>
                    <a:lnT>
                      <a:noFill/>
                    </a:lnT>
                    <a:lnB>
                      <a:noFill/>
                    </a:lnB>
                    <a:noFill/>
                  </a:tcPr>
                </a:tc>
                <a:extLst>
                  <a:ext uri="{0D108BD9-81ED-4DB2-BD59-A6C34878D82A}">
                    <a16:rowId xmlns:a16="http://schemas.microsoft.com/office/drawing/2014/main" val="2700549508"/>
                  </a:ext>
                </a:extLst>
              </a:tr>
              <a:tr h="371623">
                <a:tc>
                  <a:txBody>
                    <a:bodyPr/>
                    <a:lstStyle/>
                    <a:p>
                      <a:pPr>
                        <a:buNone/>
                      </a:pPr>
                      <a:r>
                        <a:rPr lang="en-IN" sz="2000"/>
                        <a:t>Backend</a:t>
                      </a:r>
                    </a:p>
                  </a:txBody>
                  <a:tcPr anchor="ctr">
                    <a:lnL>
                      <a:noFill/>
                    </a:lnL>
                    <a:lnR>
                      <a:noFill/>
                    </a:lnR>
                    <a:lnT>
                      <a:noFill/>
                    </a:lnT>
                    <a:lnB>
                      <a:noFill/>
                    </a:lnB>
                    <a:noFill/>
                  </a:tcPr>
                </a:tc>
                <a:tc>
                  <a:txBody>
                    <a:bodyPr/>
                    <a:lstStyle/>
                    <a:p>
                      <a:pPr>
                        <a:buNone/>
                      </a:pPr>
                      <a:r>
                        <a:rPr lang="en-IN" sz="2000"/>
                        <a:t>Python</a:t>
                      </a:r>
                    </a:p>
                  </a:txBody>
                  <a:tcPr anchor="ctr">
                    <a:lnL>
                      <a:noFill/>
                    </a:lnL>
                    <a:lnR>
                      <a:noFill/>
                    </a:lnR>
                    <a:lnT>
                      <a:noFill/>
                    </a:lnT>
                    <a:lnB>
                      <a:noFill/>
                    </a:lnB>
                    <a:noFill/>
                  </a:tcPr>
                </a:tc>
                <a:extLst>
                  <a:ext uri="{0D108BD9-81ED-4DB2-BD59-A6C34878D82A}">
                    <a16:rowId xmlns:a16="http://schemas.microsoft.com/office/drawing/2014/main" val="3676120860"/>
                  </a:ext>
                </a:extLst>
              </a:tr>
              <a:tr h="371623">
                <a:tc>
                  <a:txBody>
                    <a:bodyPr/>
                    <a:lstStyle/>
                    <a:p>
                      <a:pPr>
                        <a:buNone/>
                      </a:pPr>
                      <a:r>
                        <a:rPr lang="en-IN" sz="2000" dirty="0"/>
                        <a:t>Database</a:t>
                      </a:r>
                    </a:p>
                  </a:txBody>
                  <a:tcPr anchor="ctr">
                    <a:lnL>
                      <a:noFill/>
                    </a:lnL>
                    <a:lnR>
                      <a:noFill/>
                    </a:lnR>
                    <a:lnT>
                      <a:noFill/>
                    </a:lnT>
                    <a:lnB>
                      <a:noFill/>
                    </a:lnB>
                    <a:noFill/>
                  </a:tcPr>
                </a:tc>
                <a:tc>
                  <a:txBody>
                    <a:bodyPr/>
                    <a:lstStyle/>
                    <a:p>
                      <a:pPr>
                        <a:buNone/>
                      </a:pPr>
                      <a:r>
                        <a:rPr lang="en-IN" sz="2000"/>
                        <a:t>SQLAlchemy (SQLite/PostgreSQL)</a:t>
                      </a:r>
                    </a:p>
                  </a:txBody>
                  <a:tcPr anchor="ctr">
                    <a:lnL>
                      <a:noFill/>
                    </a:lnL>
                    <a:lnR>
                      <a:noFill/>
                    </a:lnR>
                    <a:lnT>
                      <a:noFill/>
                    </a:lnT>
                    <a:lnB>
                      <a:noFill/>
                    </a:lnB>
                    <a:noFill/>
                  </a:tcPr>
                </a:tc>
                <a:extLst>
                  <a:ext uri="{0D108BD9-81ED-4DB2-BD59-A6C34878D82A}">
                    <a16:rowId xmlns:a16="http://schemas.microsoft.com/office/drawing/2014/main" val="3965195210"/>
                  </a:ext>
                </a:extLst>
              </a:tr>
              <a:tr h="382281">
                <a:tc>
                  <a:txBody>
                    <a:bodyPr/>
                    <a:lstStyle/>
                    <a:p>
                      <a:pPr>
                        <a:buNone/>
                      </a:pPr>
                      <a:r>
                        <a:rPr lang="en-IN" sz="2000" dirty="0"/>
                        <a:t>Artificial Intelligence Integration</a:t>
                      </a:r>
                    </a:p>
                  </a:txBody>
                  <a:tcPr anchor="ctr">
                    <a:lnL>
                      <a:noFill/>
                    </a:lnL>
                    <a:lnR>
                      <a:noFill/>
                    </a:lnR>
                    <a:lnT>
                      <a:noFill/>
                    </a:lnT>
                    <a:lnB>
                      <a:noFill/>
                    </a:lnB>
                    <a:noFill/>
                  </a:tcPr>
                </a:tc>
                <a:tc>
                  <a:txBody>
                    <a:bodyPr/>
                    <a:lstStyle/>
                    <a:p>
                      <a:pPr>
                        <a:buNone/>
                      </a:pPr>
                      <a:r>
                        <a:rPr lang="en-IN" sz="2000"/>
                        <a:t>Google Gemini API</a:t>
                      </a:r>
                    </a:p>
                  </a:txBody>
                  <a:tcPr anchor="ctr">
                    <a:lnL>
                      <a:noFill/>
                    </a:lnL>
                    <a:lnR>
                      <a:noFill/>
                    </a:lnR>
                    <a:lnT>
                      <a:noFill/>
                    </a:lnT>
                    <a:lnB>
                      <a:noFill/>
                    </a:lnB>
                    <a:noFill/>
                  </a:tcPr>
                </a:tc>
                <a:extLst>
                  <a:ext uri="{0D108BD9-81ED-4DB2-BD59-A6C34878D82A}">
                    <a16:rowId xmlns:a16="http://schemas.microsoft.com/office/drawing/2014/main" val="3870643415"/>
                  </a:ext>
                </a:extLst>
              </a:tr>
              <a:tr h="371623">
                <a:tc>
                  <a:txBody>
                    <a:bodyPr/>
                    <a:lstStyle/>
                    <a:p>
                      <a:pPr>
                        <a:buNone/>
                      </a:pPr>
                      <a:r>
                        <a:rPr lang="en-IN" sz="2000"/>
                        <a:t>Data Processing</a:t>
                      </a:r>
                    </a:p>
                  </a:txBody>
                  <a:tcPr anchor="ctr">
                    <a:lnL>
                      <a:noFill/>
                    </a:lnL>
                    <a:lnR>
                      <a:noFill/>
                    </a:lnR>
                    <a:lnT>
                      <a:noFill/>
                    </a:lnT>
                    <a:lnB>
                      <a:noFill/>
                    </a:lnB>
                    <a:noFill/>
                  </a:tcPr>
                </a:tc>
                <a:tc>
                  <a:txBody>
                    <a:bodyPr/>
                    <a:lstStyle/>
                    <a:p>
                      <a:pPr>
                        <a:buNone/>
                      </a:pPr>
                      <a:r>
                        <a:rPr lang="en-IN" sz="2000"/>
                        <a:t>Pandas</a:t>
                      </a:r>
                    </a:p>
                  </a:txBody>
                  <a:tcPr anchor="ctr">
                    <a:lnL>
                      <a:noFill/>
                    </a:lnL>
                    <a:lnR>
                      <a:noFill/>
                    </a:lnR>
                    <a:lnT>
                      <a:noFill/>
                    </a:lnT>
                    <a:lnB>
                      <a:noFill/>
                    </a:lnB>
                    <a:noFill/>
                  </a:tcPr>
                </a:tc>
                <a:extLst>
                  <a:ext uri="{0D108BD9-81ED-4DB2-BD59-A6C34878D82A}">
                    <a16:rowId xmlns:a16="http://schemas.microsoft.com/office/drawing/2014/main" val="2988526850"/>
                  </a:ext>
                </a:extLst>
              </a:tr>
              <a:tr h="371623">
                <a:tc>
                  <a:txBody>
                    <a:bodyPr/>
                    <a:lstStyle/>
                    <a:p>
                      <a:pPr>
                        <a:buNone/>
                      </a:pPr>
                      <a:r>
                        <a:rPr lang="en-IN" sz="2000"/>
                        <a:t>Data Visualization</a:t>
                      </a:r>
                    </a:p>
                  </a:txBody>
                  <a:tcPr anchor="ctr">
                    <a:lnL>
                      <a:noFill/>
                    </a:lnL>
                    <a:lnR>
                      <a:noFill/>
                    </a:lnR>
                    <a:lnT>
                      <a:noFill/>
                    </a:lnT>
                    <a:lnB>
                      <a:noFill/>
                    </a:lnB>
                    <a:noFill/>
                  </a:tcPr>
                </a:tc>
                <a:tc>
                  <a:txBody>
                    <a:bodyPr/>
                    <a:lstStyle/>
                    <a:p>
                      <a:pPr>
                        <a:buNone/>
                      </a:pPr>
                      <a:r>
                        <a:rPr lang="en-IN" sz="2000"/>
                        <a:t>Plotly</a:t>
                      </a:r>
                    </a:p>
                  </a:txBody>
                  <a:tcPr anchor="ctr">
                    <a:lnL>
                      <a:noFill/>
                    </a:lnL>
                    <a:lnR>
                      <a:noFill/>
                    </a:lnR>
                    <a:lnT>
                      <a:noFill/>
                    </a:lnT>
                    <a:lnB>
                      <a:noFill/>
                    </a:lnB>
                    <a:noFill/>
                  </a:tcPr>
                </a:tc>
                <a:extLst>
                  <a:ext uri="{0D108BD9-81ED-4DB2-BD59-A6C34878D82A}">
                    <a16:rowId xmlns:a16="http://schemas.microsoft.com/office/drawing/2014/main" val="1942927047"/>
                  </a:ext>
                </a:extLst>
              </a:tr>
              <a:tr h="371623">
                <a:tc>
                  <a:txBody>
                    <a:bodyPr/>
                    <a:lstStyle/>
                    <a:p>
                      <a:pPr>
                        <a:buNone/>
                      </a:pPr>
                      <a:r>
                        <a:rPr lang="en-IN" sz="2000"/>
                        <a:t>Authentication &amp; Security</a:t>
                      </a:r>
                    </a:p>
                  </a:txBody>
                  <a:tcPr anchor="ctr">
                    <a:lnL>
                      <a:noFill/>
                    </a:lnL>
                    <a:lnR>
                      <a:noFill/>
                    </a:lnR>
                    <a:lnT>
                      <a:noFill/>
                    </a:lnT>
                    <a:lnB>
                      <a:noFill/>
                    </a:lnB>
                    <a:noFill/>
                  </a:tcPr>
                </a:tc>
                <a:tc>
                  <a:txBody>
                    <a:bodyPr/>
                    <a:lstStyle/>
                    <a:p>
                      <a:pPr>
                        <a:buNone/>
                      </a:pPr>
                      <a:r>
                        <a:rPr lang="en-IN" sz="2000"/>
                        <a:t>bcrypt</a:t>
                      </a:r>
                    </a:p>
                  </a:txBody>
                  <a:tcPr anchor="ctr">
                    <a:lnL>
                      <a:noFill/>
                    </a:lnL>
                    <a:lnR>
                      <a:noFill/>
                    </a:lnR>
                    <a:lnT>
                      <a:noFill/>
                    </a:lnT>
                    <a:lnB>
                      <a:noFill/>
                    </a:lnB>
                    <a:noFill/>
                  </a:tcPr>
                </a:tc>
                <a:extLst>
                  <a:ext uri="{0D108BD9-81ED-4DB2-BD59-A6C34878D82A}">
                    <a16:rowId xmlns:a16="http://schemas.microsoft.com/office/drawing/2014/main" val="1318308864"/>
                  </a:ext>
                </a:extLst>
              </a:tr>
              <a:tr h="371623">
                <a:tc>
                  <a:txBody>
                    <a:bodyPr/>
                    <a:lstStyle/>
                    <a:p>
                      <a:pPr>
                        <a:buNone/>
                      </a:pPr>
                      <a:r>
                        <a:rPr lang="en-IN" sz="2000"/>
                        <a:t>Report Generation</a:t>
                      </a:r>
                    </a:p>
                  </a:txBody>
                  <a:tcPr anchor="ctr">
                    <a:lnL>
                      <a:noFill/>
                    </a:lnL>
                    <a:lnR>
                      <a:noFill/>
                    </a:lnR>
                    <a:lnT>
                      <a:noFill/>
                    </a:lnT>
                    <a:lnB>
                      <a:noFill/>
                    </a:lnB>
                    <a:noFill/>
                  </a:tcPr>
                </a:tc>
                <a:tc>
                  <a:txBody>
                    <a:bodyPr/>
                    <a:lstStyle/>
                    <a:p>
                      <a:pPr>
                        <a:buNone/>
                      </a:pPr>
                      <a:r>
                        <a:rPr lang="en-IN" sz="2000"/>
                        <a:t>ReportLab</a:t>
                      </a:r>
                    </a:p>
                  </a:txBody>
                  <a:tcPr anchor="ctr">
                    <a:lnL>
                      <a:noFill/>
                    </a:lnL>
                    <a:lnR>
                      <a:noFill/>
                    </a:lnR>
                    <a:lnT>
                      <a:noFill/>
                    </a:lnT>
                    <a:lnB>
                      <a:noFill/>
                    </a:lnB>
                    <a:noFill/>
                  </a:tcPr>
                </a:tc>
                <a:extLst>
                  <a:ext uri="{0D108BD9-81ED-4DB2-BD59-A6C34878D82A}">
                    <a16:rowId xmlns:a16="http://schemas.microsoft.com/office/drawing/2014/main" val="2125731209"/>
                  </a:ext>
                </a:extLst>
              </a:tr>
              <a:tr h="371623">
                <a:tc>
                  <a:txBody>
                    <a:bodyPr/>
                    <a:lstStyle/>
                    <a:p>
                      <a:pPr>
                        <a:buNone/>
                      </a:pPr>
                      <a:r>
                        <a:rPr lang="en-IN" sz="2000"/>
                        <a:t>Environment Management</a:t>
                      </a:r>
                    </a:p>
                  </a:txBody>
                  <a:tcPr anchor="ctr">
                    <a:lnL>
                      <a:noFill/>
                    </a:lnL>
                    <a:lnR>
                      <a:noFill/>
                    </a:lnR>
                    <a:lnT>
                      <a:noFill/>
                    </a:lnT>
                    <a:lnB>
                      <a:noFill/>
                    </a:lnB>
                    <a:noFill/>
                  </a:tcPr>
                </a:tc>
                <a:tc>
                  <a:txBody>
                    <a:bodyPr/>
                    <a:lstStyle/>
                    <a:p>
                      <a:pPr>
                        <a:buNone/>
                      </a:pPr>
                      <a:r>
                        <a:rPr lang="en-IN" sz="2000"/>
                        <a:t>Virtual Environment (.venv)</a:t>
                      </a:r>
                    </a:p>
                  </a:txBody>
                  <a:tcPr anchor="ctr">
                    <a:lnL>
                      <a:noFill/>
                    </a:lnL>
                    <a:lnR>
                      <a:noFill/>
                    </a:lnR>
                    <a:lnT>
                      <a:noFill/>
                    </a:lnT>
                    <a:lnB>
                      <a:noFill/>
                    </a:lnB>
                    <a:noFill/>
                  </a:tcPr>
                </a:tc>
                <a:extLst>
                  <a:ext uri="{0D108BD9-81ED-4DB2-BD59-A6C34878D82A}">
                    <a16:rowId xmlns:a16="http://schemas.microsoft.com/office/drawing/2014/main" val="1671640270"/>
                  </a:ext>
                </a:extLst>
              </a:tr>
              <a:tr h="371623">
                <a:tc>
                  <a:txBody>
                    <a:bodyPr/>
                    <a:lstStyle/>
                    <a:p>
                      <a:pPr>
                        <a:buNone/>
                      </a:pPr>
                      <a:r>
                        <a:rPr lang="en-IN" sz="2000"/>
                        <a:t>Deployment</a:t>
                      </a:r>
                    </a:p>
                  </a:txBody>
                  <a:tcPr anchor="ctr">
                    <a:lnL>
                      <a:noFill/>
                    </a:lnL>
                    <a:lnR>
                      <a:noFill/>
                    </a:lnR>
                    <a:lnT>
                      <a:noFill/>
                    </a:lnT>
                    <a:lnB>
                      <a:noFill/>
                    </a:lnB>
                    <a:noFill/>
                  </a:tcPr>
                </a:tc>
                <a:tc>
                  <a:txBody>
                    <a:bodyPr/>
                    <a:lstStyle/>
                    <a:p>
                      <a:pPr>
                        <a:buNone/>
                      </a:pPr>
                      <a:r>
                        <a:rPr lang="en-IN" sz="2000"/>
                        <a:t>Docker</a:t>
                      </a:r>
                    </a:p>
                  </a:txBody>
                  <a:tcPr anchor="ctr">
                    <a:lnL>
                      <a:noFill/>
                    </a:lnL>
                    <a:lnR>
                      <a:noFill/>
                    </a:lnR>
                    <a:lnT>
                      <a:noFill/>
                    </a:lnT>
                    <a:lnB>
                      <a:noFill/>
                    </a:lnB>
                    <a:noFill/>
                  </a:tcPr>
                </a:tc>
                <a:extLst>
                  <a:ext uri="{0D108BD9-81ED-4DB2-BD59-A6C34878D82A}">
                    <a16:rowId xmlns:a16="http://schemas.microsoft.com/office/drawing/2014/main" val="1717907182"/>
                  </a:ext>
                </a:extLst>
              </a:tr>
              <a:tr h="371623">
                <a:tc>
                  <a:txBody>
                    <a:bodyPr/>
                    <a:lstStyle/>
                    <a:p>
                      <a:pPr>
                        <a:buNone/>
                      </a:pPr>
                      <a:r>
                        <a:rPr lang="en-IN" sz="2000"/>
                        <a:t>Version Control</a:t>
                      </a:r>
                    </a:p>
                  </a:txBody>
                  <a:tcPr anchor="ctr">
                    <a:lnL>
                      <a:noFill/>
                    </a:lnL>
                    <a:lnR>
                      <a:noFill/>
                    </a:lnR>
                    <a:lnT>
                      <a:noFill/>
                    </a:lnT>
                    <a:lnB>
                      <a:noFill/>
                    </a:lnB>
                    <a:noFill/>
                  </a:tcPr>
                </a:tc>
                <a:tc>
                  <a:txBody>
                    <a:bodyPr/>
                    <a:lstStyle/>
                    <a:p>
                      <a:pPr>
                        <a:buNone/>
                      </a:pPr>
                      <a:r>
                        <a:rPr lang="en-IN" sz="2000"/>
                        <a:t>Git &amp; GitHub</a:t>
                      </a:r>
                    </a:p>
                  </a:txBody>
                  <a:tcPr anchor="ctr">
                    <a:lnL>
                      <a:noFill/>
                    </a:lnL>
                    <a:lnR>
                      <a:noFill/>
                    </a:lnR>
                    <a:lnT>
                      <a:noFill/>
                    </a:lnT>
                    <a:lnB>
                      <a:noFill/>
                    </a:lnB>
                    <a:noFill/>
                  </a:tcPr>
                </a:tc>
                <a:extLst>
                  <a:ext uri="{0D108BD9-81ED-4DB2-BD59-A6C34878D82A}">
                    <a16:rowId xmlns:a16="http://schemas.microsoft.com/office/drawing/2014/main" val="2635491847"/>
                  </a:ext>
                </a:extLst>
              </a:tr>
              <a:tr h="371623">
                <a:tc>
                  <a:txBody>
                    <a:bodyPr/>
                    <a:lstStyle/>
                    <a:p>
                      <a:pPr>
                        <a:buNone/>
                      </a:pPr>
                      <a:r>
                        <a:rPr lang="en-IN" sz="2000"/>
                        <a:t>Development IDE</a:t>
                      </a:r>
                    </a:p>
                  </a:txBody>
                  <a:tcPr anchor="ctr">
                    <a:lnL>
                      <a:noFill/>
                    </a:lnL>
                    <a:lnR>
                      <a:noFill/>
                    </a:lnR>
                    <a:lnT>
                      <a:noFill/>
                    </a:lnT>
                    <a:lnB>
                      <a:noFill/>
                    </a:lnB>
                    <a:noFill/>
                  </a:tcPr>
                </a:tc>
                <a:tc>
                  <a:txBody>
                    <a:bodyPr/>
                    <a:lstStyle/>
                    <a:p>
                      <a:pPr>
                        <a:buNone/>
                      </a:pPr>
                      <a:r>
                        <a:rPr lang="en-IN" sz="2000" dirty="0"/>
                        <a:t>Visual Studio Code</a:t>
                      </a:r>
                    </a:p>
                  </a:txBody>
                  <a:tcPr anchor="ctr">
                    <a:lnL>
                      <a:noFill/>
                    </a:lnL>
                    <a:lnR>
                      <a:noFill/>
                    </a:lnR>
                    <a:lnT>
                      <a:noFill/>
                    </a:lnT>
                    <a:lnB>
                      <a:noFill/>
                    </a:lnB>
                    <a:noFill/>
                  </a:tcPr>
                </a:tc>
                <a:extLst>
                  <a:ext uri="{0D108BD9-81ED-4DB2-BD59-A6C34878D82A}">
                    <a16:rowId xmlns:a16="http://schemas.microsoft.com/office/drawing/2014/main" val="3406404775"/>
                  </a:ext>
                </a:extLst>
              </a:tr>
            </a:tbl>
          </a:graphicData>
        </a:graphic>
      </p:graphicFrame>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a:t>
            </a:r>
            <a:endParaRPr lang="en-US" dirty="0"/>
          </a:p>
        </p:txBody>
      </p:sp>
      <p:sp>
        <p:nvSpPr>
          <p:cNvPr id="4" name="Rectangle 1">
            <a:extLst>
              <a:ext uri="{FF2B5EF4-FFF2-40B4-BE49-F238E27FC236}">
                <a16:creationId xmlns:a16="http://schemas.microsoft.com/office/drawing/2014/main" id="{89A4F625-8A66-1C34-4AED-1CC8D81C7DCB}"/>
              </a:ext>
            </a:extLst>
          </p:cNvPr>
          <p:cNvSpPr>
            <a:spLocks noGrp="1" noChangeArrowheads="1"/>
          </p:cNvSpPr>
          <p:nvPr>
            <p:ph idx="1"/>
          </p:nvPr>
        </p:nvSpPr>
        <p:spPr bwMode="auto">
          <a:xfrm>
            <a:off x="1440561" y="1446865"/>
            <a:ext cx="502424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User Registration/Login</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Fitness Assessment</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Collect User Details</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(Age, Weight, Height, Goal, Activity Level)</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Gemini AI Processing</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Workout Plan Generation</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Diet Plan Generation</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Progress Tracking</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Analytics Dashboard</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          ↓</a:t>
            </a:r>
          </a:p>
          <a:p>
            <a:pPr marL="0" lvl="0" indent="0" defTabSz="914400" eaLnBrk="0" fontAlgn="base" hangingPunct="0">
              <a:lnSpc>
                <a:spcPct val="100000"/>
              </a:lnSpc>
              <a:spcBef>
                <a:spcPct val="0"/>
              </a:spcBef>
              <a:spcAft>
                <a:spcPct val="0"/>
              </a:spcAft>
              <a:buClrTx/>
              <a:buSzTx/>
              <a:buNone/>
            </a:pPr>
            <a:r>
              <a:rPr lang="en-US" altLang="en-US" sz="1800" dirty="0">
                <a:solidFill>
                  <a:schemeClr val="tx1"/>
                </a:solidFill>
                <a:latin typeface="Arial" panose="020B0604020202020204" pitchFamily="34" charset="0"/>
              </a:rPr>
              <a:t>PDF Report Generation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CFF8D-B00C-6BA5-A2DB-EA51339A0330}"/>
              </a:ext>
            </a:extLst>
          </p:cNvPr>
          <p:cNvSpPr>
            <a:spLocks noGrp="1"/>
          </p:cNvSpPr>
          <p:nvPr>
            <p:ph type="title"/>
          </p:nvPr>
        </p:nvSpPr>
        <p:spPr/>
        <p:txBody>
          <a:bodyPr/>
          <a:lstStyle/>
          <a:p>
            <a:r>
              <a:rPr lang="en-US" b="1" dirty="0">
                <a:solidFill>
                  <a:schemeClr val="accent1"/>
                </a:solidFill>
                <a:latin typeface="Arial"/>
                <a:ea typeface="+mj-lt"/>
                <a:cs typeface="Arial"/>
              </a:rPr>
              <a:t> Deployment &amp; Requirements Installation</a:t>
            </a:r>
            <a:endParaRPr lang="en-IN" dirty="0"/>
          </a:p>
        </p:txBody>
      </p:sp>
      <p:sp>
        <p:nvSpPr>
          <p:cNvPr id="3" name="Content Placeholder 2">
            <a:extLst>
              <a:ext uri="{FF2B5EF4-FFF2-40B4-BE49-F238E27FC236}">
                <a16:creationId xmlns:a16="http://schemas.microsoft.com/office/drawing/2014/main" id="{25432AAA-5938-2F3C-A139-03ACBC58729F}"/>
              </a:ext>
            </a:extLst>
          </p:cNvPr>
          <p:cNvSpPr>
            <a:spLocks noGrp="1"/>
          </p:cNvSpPr>
          <p:nvPr>
            <p:ph idx="1"/>
          </p:nvPr>
        </p:nvSpPr>
        <p:spPr>
          <a:xfrm>
            <a:off x="937807" y="1371600"/>
            <a:ext cx="7831289" cy="5340096"/>
          </a:xfrm>
        </p:spPr>
        <p:txBody>
          <a:bodyPr>
            <a:normAutofit/>
          </a:bodyPr>
          <a:lstStyle/>
          <a:p>
            <a:pPr marL="0" indent="0">
              <a:buNone/>
            </a:pPr>
            <a:r>
              <a:rPr lang="en-IN" b="1" dirty="0"/>
              <a:t>Create Virtual Environment</a:t>
            </a:r>
          </a:p>
          <a:p>
            <a:r>
              <a:rPr lang="en-IN" dirty="0"/>
              <a:t>python -m </a:t>
            </a:r>
            <a:r>
              <a:rPr lang="en-IN" dirty="0" err="1"/>
              <a:t>venv</a:t>
            </a:r>
            <a:r>
              <a:rPr lang="en-IN" dirty="0"/>
              <a:t> </a:t>
            </a:r>
            <a:r>
              <a:rPr lang="en-IN" dirty="0" err="1"/>
              <a:t>venv</a:t>
            </a:r>
            <a:endParaRPr lang="en-IN" dirty="0"/>
          </a:p>
          <a:p>
            <a:pPr marL="0" indent="0">
              <a:buNone/>
            </a:pPr>
            <a:r>
              <a:rPr lang="en-IN" b="1" dirty="0"/>
              <a:t>Activate Virtual Environment</a:t>
            </a:r>
          </a:p>
          <a:p>
            <a:r>
              <a:rPr lang="en-IN" b="1" dirty="0"/>
              <a:t>Windows - </a:t>
            </a:r>
            <a:r>
              <a:rPr lang="en-IN" dirty="0"/>
              <a:t>(</a:t>
            </a:r>
            <a:r>
              <a:rPr lang="en-IN" dirty="0" err="1"/>
              <a:t>venv</a:t>
            </a:r>
            <a:r>
              <a:rPr lang="en-IN" dirty="0"/>
              <a:t>\Scripts\activate) &amp; </a:t>
            </a:r>
            <a:r>
              <a:rPr lang="en-IN" b="1" dirty="0"/>
              <a:t>Linux/macOS - </a:t>
            </a:r>
            <a:r>
              <a:rPr lang="en-IN" dirty="0"/>
              <a:t>(source </a:t>
            </a:r>
            <a:r>
              <a:rPr lang="en-IN" dirty="0" err="1"/>
              <a:t>venv</a:t>
            </a:r>
            <a:r>
              <a:rPr lang="en-IN" dirty="0"/>
              <a:t>/bin/activate)</a:t>
            </a:r>
          </a:p>
          <a:p>
            <a:pPr marL="0" indent="0">
              <a:buNone/>
            </a:pPr>
            <a:r>
              <a:rPr lang="en-IN" b="1" dirty="0"/>
              <a:t>Install Required Packages</a:t>
            </a:r>
          </a:p>
          <a:p>
            <a:r>
              <a:rPr lang="en-IN" dirty="0"/>
              <a:t>pip install -r requirements.txt</a:t>
            </a:r>
          </a:p>
          <a:p>
            <a:pPr marL="0" indent="0">
              <a:buNone/>
            </a:pPr>
            <a:r>
              <a:rPr lang="en-IN" b="1" dirty="0"/>
              <a:t>Verify Installation</a:t>
            </a:r>
          </a:p>
          <a:p>
            <a:r>
              <a:rPr lang="en-IN" dirty="0"/>
              <a:t>pip list</a:t>
            </a:r>
          </a:p>
          <a:p>
            <a:pPr marL="0" indent="0">
              <a:buNone/>
            </a:pPr>
            <a:r>
              <a:rPr lang="en-IN" b="1" dirty="0"/>
              <a:t>Local Deployment</a:t>
            </a:r>
          </a:p>
          <a:p>
            <a:r>
              <a:rPr lang="en-IN" dirty="0" err="1"/>
              <a:t>streamlit</a:t>
            </a:r>
            <a:r>
              <a:rPr lang="en-IN" dirty="0"/>
              <a:t> run app.py</a:t>
            </a:r>
          </a:p>
          <a:p>
            <a:pPr marL="0" indent="0">
              <a:buNone/>
            </a:pPr>
            <a:r>
              <a:rPr lang="en-IN" b="1" dirty="0"/>
              <a:t>Docker Deployment</a:t>
            </a:r>
          </a:p>
          <a:p>
            <a:r>
              <a:rPr lang="en-IN" dirty="0"/>
              <a:t>docker build -t workout-diet-planner .</a:t>
            </a:r>
          </a:p>
          <a:p>
            <a:r>
              <a:rPr lang="en-IN" dirty="0"/>
              <a:t>docker run -p 8501:8501 --env-file .env workout-diet-planner</a:t>
            </a:r>
          </a:p>
        </p:txBody>
      </p:sp>
    </p:spTree>
    <p:extLst>
      <p:ext uri="{BB962C8B-B14F-4D97-AF65-F5344CB8AC3E}">
        <p14:creationId xmlns:p14="http://schemas.microsoft.com/office/powerpoint/2010/main" val="1438362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841C4D00-3D91-B46D-8B8D-EE83C82CDE6A}"/>
              </a:ext>
            </a:extLst>
          </p:cNvPr>
          <p:cNvSpPr>
            <a:spLocks noGrp="1"/>
          </p:cNvSpPr>
          <p:nvPr>
            <p:ph idx="1"/>
          </p:nvPr>
        </p:nvSpPr>
        <p:spPr>
          <a:xfrm>
            <a:off x="581192" y="1302026"/>
            <a:ext cx="11029615" cy="4673324"/>
          </a:xfrm>
        </p:spPr>
        <p:txBody>
          <a:bodyPr>
            <a:normAutofit/>
          </a:bodyPr>
          <a:lstStyle/>
          <a:p>
            <a:pPr algn="just"/>
            <a:r>
              <a:rPr lang="en-IN" sz="2000" dirty="0"/>
              <a:t>The application successfully generates personalized workout and diet recommendations based on user-specific fitness data. Users can track their progress, </a:t>
            </a:r>
            <a:r>
              <a:rPr lang="en-IN" sz="2000" dirty="0" err="1"/>
              <a:t>analyze</a:t>
            </a:r>
            <a:r>
              <a:rPr lang="en-IN" sz="2000" dirty="0"/>
              <a:t> performance trends, and receive AI-powered fitness guidance through an interactive chatbot.</a:t>
            </a:r>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5747A-09F7-8A5A-DC12-3580A18D2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901CE-8CDC-F9BF-D87E-EBC04B4FD2C7}"/>
              </a:ext>
            </a:extLst>
          </p:cNvPr>
          <p:cNvSpPr>
            <a:spLocks noGrp="1"/>
          </p:cNvSpPr>
          <p:nvPr>
            <p:ph type="title"/>
          </p:nvPr>
        </p:nvSpPr>
        <p:spPr/>
        <p:txBody>
          <a:bodyPr>
            <a:noAutofit/>
          </a:bodyPr>
          <a:lstStyle/>
          <a:p>
            <a:r>
              <a:rPr lang="en-IN" sz="4000" b="1" dirty="0">
                <a:solidFill>
                  <a:schemeClr val="accent1"/>
                </a:solidFill>
                <a:latin typeface="Arial" panose="020B0604020202020204" pitchFamily="34" charset="0"/>
                <a:cs typeface="Arial" panose="020B0604020202020204" pitchFamily="34" charset="0"/>
              </a:rPr>
              <a:t>Project Screenshot</a:t>
            </a:r>
          </a:p>
        </p:txBody>
      </p:sp>
      <p:pic>
        <p:nvPicPr>
          <p:cNvPr id="4" name="Picture 3">
            <a:extLst>
              <a:ext uri="{FF2B5EF4-FFF2-40B4-BE49-F238E27FC236}">
                <a16:creationId xmlns:a16="http://schemas.microsoft.com/office/drawing/2014/main" id="{1A1FE7F1-69CB-6688-B09C-AC8F1B4123C9}"/>
              </a:ext>
            </a:extLst>
          </p:cNvPr>
          <p:cNvPicPr>
            <a:picLocks noChangeAspect="1"/>
          </p:cNvPicPr>
          <p:nvPr/>
        </p:nvPicPr>
        <p:blipFill>
          <a:blip r:embed="rId2"/>
          <a:stretch>
            <a:fillRect/>
          </a:stretch>
        </p:blipFill>
        <p:spPr>
          <a:xfrm>
            <a:off x="274320" y="1777176"/>
            <a:ext cx="5455920" cy="3424100"/>
          </a:xfrm>
          <a:prstGeom prst="rect">
            <a:avLst/>
          </a:prstGeom>
        </p:spPr>
      </p:pic>
      <p:pic>
        <p:nvPicPr>
          <p:cNvPr id="6" name="Picture 5">
            <a:extLst>
              <a:ext uri="{FF2B5EF4-FFF2-40B4-BE49-F238E27FC236}">
                <a16:creationId xmlns:a16="http://schemas.microsoft.com/office/drawing/2014/main" id="{3C818400-ACC9-8B2F-60AB-69981F930575}"/>
              </a:ext>
            </a:extLst>
          </p:cNvPr>
          <p:cNvPicPr>
            <a:picLocks noChangeAspect="1"/>
          </p:cNvPicPr>
          <p:nvPr/>
        </p:nvPicPr>
        <p:blipFill>
          <a:blip r:embed="rId3"/>
          <a:stretch>
            <a:fillRect/>
          </a:stretch>
        </p:blipFill>
        <p:spPr>
          <a:xfrm>
            <a:off x="5901512" y="1777176"/>
            <a:ext cx="6016168" cy="3447468"/>
          </a:xfrm>
          <a:prstGeom prst="rect">
            <a:avLst/>
          </a:prstGeom>
        </p:spPr>
      </p:pic>
    </p:spTree>
    <p:extLst>
      <p:ext uri="{BB962C8B-B14F-4D97-AF65-F5344CB8AC3E}">
        <p14:creationId xmlns:p14="http://schemas.microsoft.com/office/powerpoint/2010/main" val="2166966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A971D-D516-385D-6225-F24E670E0B69}"/>
              </a:ext>
            </a:extLst>
          </p:cNvPr>
          <p:cNvSpPr>
            <a:spLocks noGrp="1"/>
          </p:cNvSpPr>
          <p:nvPr>
            <p:ph type="title"/>
          </p:nvPr>
        </p:nvSpPr>
        <p:spPr/>
        <p:txBody>
          <a:bodyPr>
            <a:noAutofit/>
          </a:bodyPr>
          <a:lstStyle/>
          <a:p>
            <a:r>
              <a:rPr lang="en-IN" sz="4000" b="1" dirty="0">
                <a:solidFill>
                  <a:schemeClr val="accent1"/>
                </a:solidFill>
                <a:latin typeface="Arial" panose="020B0604020202020204" pitchFamily="34" charset="0"/>
                <a:cs typeface="Arial" panose="020B0604020202020204" pitchFamily="34" charset="0"/>
              </a:rPr>
              <a:t>Project Screenshot</a:t>
            </a:r>
          </a:p>
        </p:txBody>
      </p:sp>
      <p:pic>
        <p:nvPicPr>
          <p:cNvPr id="4" name="Picture 3">
            <a:extLst>
              <a:ext uri="{FF2B5EF4-FFF2-40B4-BE49-F238E27FC236}">
                <a16:creationId xmlns:a16="http://schemas.microsoft.com/office/drawing/2014/main" id="{5C51C766-113D-EA1E-5266-072A67D78AE1}"/>
              </a:ext>
            </a:extLst>
          </p:cNvPr>
          <p:cNvPicPr>
            <a:picLocks noChangeAspect="1"/>
          </p:cNvPicPr>
          <p:nvPr/>
        </p:nvPicPr>
        <p:blipFill>
          <a:blip r:embed="rId2"/>
          <a:stretch>
            <a:fillRect/>
          </a:stretch>
        </p:blipFill>
        <p:spPr>
          <a:xfrm>
            <a:off x="227376" y="1727200"/>
            <a:ext cx="5662506" cy="3413760"/>
          </a:xfrm>
          <a:prstGeom prst="rect">
            <a:avLst/>
          </a:prstGeom>
        </p:spPr>
      </p:pic>
      <p:pic>
        <p:nvPicPr>
          <p:cNvPr id="6" name="Picture 5">
            <a:extLst>
              <a:ext uri="{FF2B5EF4-FFF2-40B4-BE49-F238E27FC236}">
                <a16:creationId xmlns:a16="http://schemas.microsoft.com/office/drawing/2014/main" id="{32B6F616-3228-4D84-3277-62764685B58F}"/>
              </a:ext>
            </a:extLst>
          </p:cNvPr>
          <p:cNvPicPr>
            <a:picLocks noChangeAspect="1"/>
          </p:cNvPicPr>
          <p:nvPr/>
        </p:nvPicPr>
        <p:blipFill>
          <a:blip r:embed="rId3"/>
          <a:stretch>
            <a:fillRect/>
          </a:stretch>
        </p:blipFill>
        <p:spPr>
          <a:xfrm>
            <a:off x="6096000" y="1727200"/>
            <a:ext cx="5800888" cy="3413760"/>
          </a:xfrm>
          <a:prstGeom prst="rect">
            <a:avLst/>
          </a:prstGeom>
        </p:spPr>
      </p:pic>
    </p:spTree>
    <p:extLst>
      <p:ext uri="{BB962C8B-B14F-4D97-AF65-F5344CB8AC3E}">
        <p14:creationId xmlns:p14="http://schemas.microsoft.com/office/powerpoint/2010/main" val="442047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lgn="just"/>
            <a:r>
              <a:rPr lang="en-IN" sz="2000" dirty="0"/>
              <a:t>The AI-Powered Personalized Workout &amp; Diet Planner successfully provides customized fitness and nutrition recommendations using Artificial Intelligence. The system simplifies fitness planning, improves user engagement, and enables effective progress monitoring through an intuitive and interactive platform.</a:t>
            </a:r>
          </a:p>
        </p:txBody>
      </p:sp>
    </p:spTree>
    <p:extLst>
      <p:ext uri="{BB962C8B-B14F-4D97-AF65-F5344CB8AC3E}">
        <p14:creationId xmlns:p14="http://schemas.microsoft.com/office/powerpoint/2010/main" val="3183315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778933" y="2990334"/>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Content Placeholder 1">
            <a:extLst>
              <a:ext uri="{FF2B5EF4-FFF2-40B4-BE49-F238E27FC236}">
                <a16:creationId xmlns:a16="http://schemas.microsoft.com/office/drawing/2014/main" id="{F4A328D6-41DC-9547-4312-6A5461BDD8EE}"/>
              </a:ext>
            </a:extLst>
          </p:cNvPr>
          <p:cNvSpPr>
            <a:spLocks noGrp="1"/>
          </p:cNvSpPr>
          <p:nvPr>
            <p:ph idx="1"/>
          </p:nvPr>
        </p:nvSpPr>
        <p:spPr>
          <a:xfrm>
            <a:off x="581192" y="1525546"/>
            <a:ext cx="11029615" cy="4673324"/>
          </a:xfrm>
        </p:spPr>
        <p:txBody>
          <a:bodyPr>
            <a:normAutofit/>
          </a:bodyPr>
          <a:lstStyle/>
          <a:p>
            <a:r>
              <a:rPr lang="en-US" sz="2000" dirty="0"/>
              <a:t>Integration with wearable fitness devices.</a:t>
            </a:r>
          </a:p>
          <a:p>
            <a:r>
              <a:rPr lang="en-US" sz="2000" dirty="0"/>
              <a:t>Real-time calorie tracking.</a:t>
            </a:r>
          </a:p>
          <a:p>
            <a:r>
              <a:rPr lang="en-US" sz="2000" dirty="0"/>
              <a:t>Exercise video recommendations.</a:t>
            </a:r>
          </a:p>
          <a:p>
            <a:r>
              <a:rPr lang="en-US" sz="2000" dirty="0"/>
              <a:t>Mobile application development.</a:t>
            </a:r>
          </a:p>
          <a:p>
            <a:r>
              <a:rPr lang="en-US" sz="2000" dirty="0"/>
              <a:t>Multi-language support.</a:t>
            </a:r>
          </a:p>
          <a:p>
            <a:r>
              <a:rPr lang="en-US" sz="2000" dirty="0"/>
              <a:t>AI-based injury prevention suggestions.</a:t>
            </a:r>
          </a:p>
          <a:p>
            <a:r>
              <a:rPr lang="en-US" sz="2000" dirty="0"/>
              <a:t>Integration with health monitoring systems.</a:t>
            </a:r>
          </a:p>
          <a:p>
            <a:r>
              <a:rPr lang="en-US" sz="2000" dirty="0"/>
              <a:t>Community fitness challenges and leaderboards.</a:t>
            </a:r>
          </a:p>
          <a:p>
            <a:r>
              <a:rPr lang="en-US" sz="2000" dirty="0"/>
              <a:t>Voice-enabled fitness assistant.</a:t>
            </a:r>
          </a:p>
          <a:p>
            <a:r>
              <a:rPr lang="en-US" sz="2000" dirty="0"/>
              <a:t>Advanced predictive health analytics.</a:t>
            </a:r>
            <a:endParaRPr lang="en-IN" sz="2000" dirty="0"/>
          </a:p>
        </p:txBody>
      </p:sp>
    </p:spTree>
    <p:extLst>
      <p:ext uri="{BB962C8B-B14F-4D97-AF65-F5344CB8AC3E}">
        <p14:creationId xmlns:p14="http://schemas.microsoft.com/office/powerpoint/2010/main" val="614882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References</a:t>
            </a:r>
            <a:endParaRPr lang="en-US" dirty="0"/>
          </a:p>
        </p:txBody>
      </p:sp>
      <p:sp>
        <p:nvSpPr>
          <p:cNvPr id="2" name="Content Placeholder 1">
            <a:extLst>
              <a:ext uri="{FF2B5EF4-FFF2-40B4-BE49-F238E27FC236}">
                <a16:creationId xmlns:a16="http://schemas.microsoft.com/office/drawing/2014/main" id="{2D714A6E-3ECC-F931-C505-E662E62247A6}"/>
              </a:ext>
            </a:extLst>
          </p:cNvPr>
          <p:cNvSpPr>
            <a:spLocks noGrp="1"/>
          </p:cNvSpPr>
          <p:nvPr>
            <p:ph idx="1"/>
          </p:nvPr>
        </p:nvSpPr>
        <p:spPr>
          <a:xfrm>
            <a:off x="822472" y="1379061"/>
            <a:ext cx="10547056" cy="5104035"/>
          </a:xfrm>
        </p:spPr>
        <p:txBody>
          <a:bodyPr>
            <a:noAutofit/>
          </a:bodyPr>
          <a:lstStyle/>
          <a:p>
            <a:r>
              <a:rPr lang="en-IN" sz="2000" dirty="0">
                <a:solidFill>
                  <a:schemeClr val="tx1"/>
                </a:solidFill>
              </a:rPr>
              <a:t>Google Gemini Documentation. Available: </a:t>
            </a:r>
            <a:r>
              <a:rPr lang="en-IN" sz="2000" dirty="0">
                <a:solidFill>
                  <a:schemeClr val="tx1"/>
                </a:solidFill>
                <a:hlinkClick r:id="rId2"/>
              </a:rPr>
              <a:t>https://ai.google.dev/</a:t>
            </a:r>
            <a:endParaRPr lang="en-IN" sz="2000" dirty="0">
              <a:solidFill>
                <a:schemeClr val="tx1"/>
              </a:solidFill>
            </a:endParaRPr>
          </a:p>
          <a:p>
            <a:r>
              <a:rPr lang="en-IN" sz="2000" dirty="0">
                <a:solidFill>
                  <a:schemeClr val="tx1"/>
                </a:solidFill>
              </a:rPr>
              <a:t>Python Documentation. Available: </a:t>
            </a:r>
            <a:r>
              <a:rPr lang="en-IN" sz="2000" dirty="0">
                <a:hlinkClick r:id="rId3"/>
              </a:rPr>
              <a:t>https://docs.python.org/</a:t>
            </a:r>
            <a:endParaRPr lang="en-IN" sz="2000" dirty="0">
              <a:solidFill>
                <a:schemeClr val="tx1"/>
              </a:solidFill>
            </a:endParaRPr>
          </a:p>
          <a:p>
            <a:r>
              <a:rPr lang="en-IN" sz="2000" dirty="0" err="1">
                <a:solidFill>
                  <a:schemeClr val="tx1"/>
                </a:solidFill>
              </a:rPr>
              <a:t>SQLAlchemy</a:t>
            </a:r>
            <a:r>
              <a:rPr lang="en-IN" sz="2000" dirty="0">
                <a:solidFill>
                  <a:schemeClr val="tx1"/>
                </a:solidFill>
              </a:rPr>
              <a:t> Documentation. Available: </a:t>
            </a:r>
            <a:r>
              <a:rPr lang="en-IN" sz="2000" dirty="0">
                <a:hlinkClick r:id="rId4"/>
              </a:rPr>
              <a:t>https://docs.sqlalchemy.org/</a:t>
            </a:r>
            <a:endParaRPr lang="en-IN" sz="2000" dirty="0">
              <a:solidFill>
                <a:schemeClr val="tx1"/>
              </a:solidFill>
            </a:endParaRPr>
          </a:p>
          <a:p>
            <a:r>
              <a:rPr lang="en-IN" sz="2000" dirty="0" err="1">
                <a:solidFill>
                  <a:schemeClr val="tx1"/>
                </a:solidFill>
              </a:rPr>
              <a:t>Streamlit</a:t>
            </a:r>
            <a:r>
              <a:rPr lang="en-IN" sz="2000" dirty="0">
                <a:solidFill>
                  <a:schemeClr val="tx1"/>
                </a:solidFill>
              </a:rPr>
              <a:t> Documentation. Available: </a:t>
            </a:r>
            <a:r>
              <a:rPr lang="en-IN" sz="2000" dirty="0">
                <a:hlinkClick r:id="rId5"/>
              </a:rPr>
              <a:t>https://docs.streamlit.io/</a:t>
            </a:r>
            <a:endParaRPr lang="en-IN" sz="2000" dirty="0">
              <a:solidFill>
                <a:schemeClr val="tx1"/>
              </a:solidFill>
            </a:endParaRPr>
          </a:p>
          <a:p>
            <a:r>
              <a:rPr lang="en-IN" sz="2000" dirty="0">
                <a:solidFill>
                  <a:schemeClr val="tx1"/>
                </a:solidFill>
              </a:rPr>
              <a:t>Supervised Learning — scikit-learn Documentation. Available: </a:t>
            </a:r>
            <a:r>
              <a:rPr lang="en-IN" sz="2000" dirty="0">
                <a:hlinkClick r:id="rId6"/>
              </a:rPr>
              <a:t>https://scikit-learn.org/stable/supervised_learning.html</a:t>
            </a:r>
            <a:endParaRPr lang="en-IN" sz="2000" dirty="0">
              <a:solidFill>
                <a:schemeClr val="tx1"/>
              </a:solidFill>
            </a:endParaRPr>
          </a:p>
          <a:p>
            <a:r>
              <a:rPr lang="en-IN" sz="2000" dirty="0">
                <a:solidFill>
                  <a:schemeClr val="tx1"/>
                </a:solidFill>
              </a:rPr>
              <a:t>Docker Documentation. Available: </a:t>
            </a:r>
            <a:r>
              <a:rPr lang="en-IN" sz="2000" dirty="0">
                <a:hlinkClick r:id="rId7"/>
              </a:rPr>
              <a:t>https://docs.docker.com/</a:t>
            </a:r>
            <a:endParaRPr lang="en-IN" sz="2000" dirty="0">
              <a:solidFill>
                <a:schemeClr val="tx1"/>
              </a:solidFill>
            </a:endParaRPr>
          </a:p>
          <a:p>
            <a:r>
              <a:rPr lang="en-IN" sz="2000" dirty="0">
                <a:solidFill>
                  <a:schemeClr val="tx1"/>
                </a:solidFill>
              </a:rPr>
              <a:t>Plotly Documentation. Available: </a:t>
            </a:r>
            <a:r>
              <a:rPr lang="en-IN" sz="2000" dirty="0">
                <a:hlinkClick r:id="rId8"/>
              </a:rPr>
              <a:t>https://plotly.com/python/</a:t>
            </a:r>
            <a:endParaRPr lang="en-IN" sz="2000" dirty="0">
              <a:solidFill>
                <a:schemeClr val="tx1"/>
              </a:solidFill>
            </a:endParaRPr>
          </a:p>
          <a:p>
            <a:r>
              <a:rPr lang="en-IN" sz="2000" dirty="0">
                <a:solidFill>
                  <a:schemeClr val="tx1"/>
                </a:solidFill>
              </a:rPr>
              <a:t>Pandas Documentation. Available: </a:t>
            </a:r>
            <a:r>
              <a:rPr lang="en-IN" sz="2000" dirty="0">
                <a:hlinkClick r:id="rId9"/>
              </a:rPr>
              <a:t>https://pandas.pydata.org/docs/</a:t>
            </a:r>
            <a:endParaRPr lang="en-IN" sz="2000" dirty="0">
              <a:solidFill>
                <a:schemeClr val="tx1"/>
              </a:solidFill>
            </a:endParaRPr>
          </a:p>
          <a:p>
            <a:r>
              <a:rPr lang="en-IN" sz="2000" dirty="0" err="1">
                <a:solidFill>
                  <a:schemeClr val="tx1"/>
                </a:solidFill>
              </a:rPr>
              <a:t>ReportLab</a:t>
            </a:r>
            <a:r>
              <a:rPr lang="en-IN" sz="2000" dirty="0">
                <a:solidFill>
                  <a:schemeClr val="tx1"/>
                </a:solidFill>
              </a:rPr>
              <a:t> Documentation. Available: </a:t>
            </a:r>
            <a:r>
              <a:rPr lang="en-IN" sz="2000" dirty="0">
                <a:hlinkClick r:id="rId10"/>
              </a:rPr>
              <a:t>https://docs.reportlab.com/</a:t>
            </a:r>
            <a:endParaRPr lang="en-IN" sz="2000" dirty="0">
              <a:solidFill>
                <a:schemeClr val="tx1"/>
              </a:solidFill>
            </a:endParaRPr>
          </a:p>
          <a:p>
            <a:r>
              <a:rPr lang="en-IN" sz="2000" dirty="0" err="1">
                <a:solidFill>
                  <a:schemeClr val="tx1"/>
                </a:solidFill>
              </a:rPr>
              <a:t>bcrypt</a:t>
            </a:r>
            <a:r>
              <a:rPr lang="en-IN" sz="2000" dirty="0">
                <a:solidFill>
                  <a:schemeClr val="tx1"/>
                </a:solidFill>
              </a:rPr>
              <a:t> Documentation. </a:t>
            </a:r>
            <a:r>
              <a:rPr lang="en-IN" sz="2000" dirty="0">
                <a:hlinkClick r:id="rId11"/>
              </a:rPr>
              <a:t>https://pypi.org/project/bcrypt/</a:t>
            </a:r>
            <a:endParaRPr lang="en-IN" sz="2000" dirty="0">
              <a:solidFill>
                <a:schemeClr val="tx1"/>
              </a:solidFill>
            </a:endParaRPr>
          </a:p>
        </p:txBody>
      </p:sp>
    </p:spTree>
    <p:extLst>
      <p:ext uri="{BB962C8B-B14F-4D97-AF65-F5344CB8AC3E}">
        <p14:creationId xmlns:p14="http://schemas.microsoft.com/office/powerpoint/2010/main" val="728950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a:xfrm>
            <a:off x="581192" y="2617597"/>
            <a:ext cx="11029615" cy="2317750"/>
          </a:xfrm>
        </p:spPr>
        <p:txBody>
          <a:bodyPr>
            <a:normAutofit/>
          </a:bodyPr>
          <a:lstStyle/>
          <a:p>
            <a:r>
              <a:rPr lang="en-IN" sz="1800" dirty="0" err="1"/>
              <a:t>Github</a:t>
            </a:r>
            <a:r>
              <a:rPr lang="en-IN" sz="1800" dirty="0"/>
              <a:t> Project Link: </a:t>
            </a:r>
            <a:r>
              <a:rPr lang="en-IN" sz="1800" dirty="0">
                <a:hlinkClick r:id="rId2"/>
              </a:rPr>
              <a:t>https://github.com/HARIHARANS24/AthletiQ-AI</a:t>
            </a:r>
            <a:endParaRPr lang="en-IN" sz="1800" dirty="0"/>
          </a:p>
          <a:p>
            <a:r>
              <a:rPr lang="en-IN" sz="1800" dirty="0"/>
              <a:t>Deployment Link: </a:t>
            </a:r>
            <a:r>
              <a:rPr lang="en-IN" sz="1800" dirty="0" err="1"/>
              <a:t>Streamlit</a:t>
            </a:r>
            <a:r>
              <a:rPr lang="en-IN" sz="1800" dirty="0"/>
              <a:t> - </a:t>
            </a:r>
            <a:r>
              <a:rPr lang="en-IN" sz="1800" dirty="0">
                <a:hlinkClick r:id="rId3"/>
              </a:rPr>
              <a:t>https://athletiq-ai.streamlit.app/</a:t>
            </a:r>
            <a:endParaRPr lang="en-IN" sz="1800" dirty="0"/>
          </a:p>
          <a:p>
            <a:r>
              <a:rPr lang="en-IN" sz="1800" dirty="0" err="1"/>
              <a:t>Github</a:t>
            </a:r>
            <a:r>
              <a:rPr lang="en-IN" sz="1800" dirty="0"/>
              <a:t> Profile Link: </a:t>
            </a:r>
            <a:r>
              <a:rPr lang="en-IN" sz="1800" dirty="0">
                <a:hlinkClick r:id="rId2"/>
              </a:rPr>
              <a:t>https://github.com/HARIHARANS24</a:t>
            </a:r>
            <a:endParaRPr lang="en-IN" sz="1800" dirty="0"/>
          </a:p>
          <a:p>
            <a:r>
              <a:rPr lang="en-IN" sz="1800" dirty="0" err="1"/>
              <a:t>Linkedin</a:t>
            </a:r>
            <a:r>
              <a:rPr lang="en-IN" sz="1800" dirty="0"/>
              <a:t> Profile Link: </a:t>
            </a:r>
            <a:r>
              <a:rPr lang="en-IN" sz="1800" dirty="0">
                <a:hlinkClick r:id="rId4"/>
              </a:rPr>
              <a:t>https://www.linkedin.com/in/hariharan-s24/</a:t>
            </a:r>
            <a:endParaRPr lang="en-IN" sz="1800" dirty="0"/>
          </a:p>
        </p:txBody>
      </p:sp>
    </p:spTree>
    <p:extLst>
      <p:ext uri="{BB962C8B-B14F-4D97-AF65-F5344CB8AC3E}">
        <p14:creationId xmlns:p14="http://schemas.microsoft.com/office/powerpoint/2010/main" val="1995909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1120</TotalTime>
  <Words>775</Words>
  <Application>Microsoft Office PowerPoint</Application>
  <PresentationFormat>Widescreen</PresentationFormat>
  <Paragraphs>135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Franklin Gothic Book</vt:lpstr>
      <vt:lpstr>Franklin Gothic Demi</vt:lpstr>
      <vt:lpstr>Wingdings 2</vt:lpstr>
      <vt:lpstr>DividendVTI</vt:lpstr>
      <vt:lpstr>AI-Powered Personalized Workout  &amp; Diet Planner</vt:lpstr>
      <vt:lpstr>OUTLINE</vt:lpstr>
      <vt:lpstr>Problem Statement</vt:lpstr>
      <vt:lpstr>Proposed Solution</vt:lpstr>
      <vt:lpstr>System  Approach</vt:lpstr>
      <vt:lpstr>Algorithm</vt:lpstr>
      <vt:lpstr> Deployment &amp; Requirements Installation</vt:lpstr>
      <vt:lpstr>Result</vt:lpstr>
      <vt:lpstr>Project Screenshot</vt:lpstr>
      <vt:lpstr>Project Screenshot</vt:lpstr>
      <vt:lpstr>Conclusion</vt:lpstr>
      <vt:lpstr>PowerPoint Presentation</vt:lpstr>
      <vt:lpstr>References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baladurga g</cp:lastModifiedBy>
  <cp:revision>54</cp:revision>
  <dcterms:created xsi:type="dcterms:W3CDTF">2021-05-26T16:50:10Z</dcterms:created>
  <dcterms:modified xsi:type="dcterms:W3CDTF">2026-06-12T17:08:05Z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